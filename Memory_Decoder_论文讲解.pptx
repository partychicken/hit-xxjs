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6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2B4D"/>
                </a:solidFill>
                <a:latin typeface="PingFang SC"/>
              </a:rPr>
              <a:t>Memory Decoder：
面向大语言模型的预训练可插拔记忆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A626C"/>
                </a:solidFill>
                <a:latin typeface="PingFang SC"/>
              </a:rPr>
              <a:t>论文讲解 PPT
Jiaqi Cao 等，2025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4389120"/>
            <a:ext cx="3291840" cy="1005840"/>
          </a:xfrm>
          <a:prstGeom prst="roundRect">
            <a:avLst/>
          </a:prstGeom>
          <a:solidFill>
            <a:srgbClr val="E8EFFA"/>
          </a:solidFill>
          <a:ln>
            <a:solidFill>
              <a:srgbClr val="BE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461772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2E5BBA"/>
                </a:solidFill>
                <a:latin typeface="PingFang SC"/>
              </a:rPr>
              <a:t>关键词：领域适配 / 检索替代 / 低延迟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26C"/>
                </a:solidFill>
                <a:latin typeface="PingFang SC"/>
              </a:rPr>
              <a:t>论文：Memory Decoder: A Pretrained, Plug-and-Play Memory for Large Language Models (2025)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6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B4D"/>
                </a:solidFill>
                <a:latin typeface="PingFang SC"/>
              </a:rPr>
              <a:t>1. 研究背景与任务定义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94960" cy="4526280"/>
          </a:xfrm>
          <a:prstGeom prst="roundRect">
            <a:avLst/>
          </a:prstGeom>
          <a:solidFill>
            <a:srgbClr val="F2F4F7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57276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5BBA"/>
                </a:solidFill>
                <a:latin typeface="PingFang SC"/>
              </a:rPr>
              <a:t>研究背景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01952"/>
            <a:ext cx="4892040" cy="3794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72F"/>
                </a:solidFill>
                <a:latin typeface="PingFang SC"/>
              </a:defRPr>
            </a:pPr>
            <a:r>
              <a:t>• 大语言模型在通用任务上表现强，但在生物医学、金融、法律等专业领域仍需适配。</a:t>
            </a:r>
          </a:p>
          <a:p>
            <a:pPr>
              <a:spcAft>
                <a:spcPts val="800"/>
              </a:spcAft>
              <a:defRPr sz="1500">
                <a:solidFill>
                  <a:srgbClr val="23272F"/>
                </a:solidFill>
                <a:latin typeface="PingFang SC"/>
              </a:defRPr>
            </a:pPr>
            <a:r>
              <a:t>• DAPT 需要继续预训练原模型，训练成本高，且容易带来灾难性遗忘。</a:t>
            </a:r>
          </a:p>
          <a:p>
            <a:pPr>
              <a:spcAft>
                <a:spcPts val="800"/>
              </a:spcAft>
              <a:defRPr sz="1500">
                <a:solidFill>
                  <a:srgbClr val="23272F"/>
                </a:solidFill>
                <a:latin typeface="PingFang SC"/>
              </a:defRPr>
            </a:pPr>
            <a:r>
              <a:t>• RAG / kNN-LM 虽然可插拔，但推理阶段依赖检索，延迟与工程复杂度较高。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17320"/>
            <a:ext cx="5394960" cy="4526280"/>
          </a:xfrm>
          <a:prstGeom prst="roundRect">
            <a:avLst/>
          </a:prstGeom>
          <a:solidFill>
            <a:srgbClr val="F2F4F7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7276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5BBA"/>
                </a:solidFill>
                <a:latin typeface="PingFang SC"/>
              </a:rPr>
              <a:t>任务定义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1901952"/>
            <a:ext cx="4892040" cy="3794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72F"/>
                </a:solidFill>
                <a:latin typeface="PingFang SC"/>
              </a:defRPr>
            </a:pPr>
            <a:r>
              <a:t>• 目标：在不修改或尽量少修改基座模型参数的前提下，提升领域知识建模能力。</a:t>
            </a:r>
          </a:p>
          <a:p>
            <a:pPr>
              <a:spcAft>
                <a:spcPts val="800"/>
              </a:spcAft>
              <a:defRPr sz="1500">
                <a:solidFill>
                  <a:srgbClr val="23272F"/>
                </a:solidFill>
                <a:latin typeface="PingFang SC"/>
              </a:defRPr>
            </a:pPr>
            <a:r>
              <a:t>• 要求：兼顾可插拔性、推理效率、跨模型复用性与通用能力保持。</a:t>
            </a:r>
          </a:p>
          <a:p>
            <a:pPr>
              <a:spcAft>
                <a:spcPts val="800"/>
              </a:spcAft>
              <a:defRPr sz="1500">
                <a:solidFill>
                  <a:srgbClr val="23272F"/>
                </a:solidFill>
                <a:latin typeface="PingFang SC"/>
              </a:defRPr>
            </a:pPr>
            <a:r>
              <a:t>• 核心问题：能否用一个小型参数模块替代在线检索记忆？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26C"/>
                </a:solidFill>
                <a:latin typeface="PingFang SC"/>
              </a:rPr>
              <a:t>论文：Memory Decoder: A Pretrained, Plug-and-Play Memory for Large Language Models (2025)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6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B4D"/>
                </a:solidFill>
                <a:latin typeface="PingFang SC"/>
              </a:rPr>
              <a:t>2. 方法动机：在 DAPT 与 RAG 之间寻找平衡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E5BBA"/>
                </a:solidFill>
                <a:latin typeface="PingFang SC"/>
              </a:rPr>
              <a:t>三类领域适配方案对比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139696" cy="566928"/>
          </a:xfrm>
          <a:prstGeom prst="rect">
            <a:avLst/>
          </a:prstGeom>
          <a:solidFill>
            <a:srgbClr val="162B4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83664"/>
            <a:ext cx="2048255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方法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2871215" y="1828800"/>
            <a:ext cx="2139696" cy="566928"/>
          </a:xfrm>
          <a:prstGeom prst="rect">
            <a:avLst/>
          </a:prstGeom>
          <a:solidFill>
            <a:srgbClr val="162B4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16935" y="1883664"/>
            <a:ext cx="2048255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训练成本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10912" y="1828800"/>
            <a:ext cx="2139696" cy="566928"/>
          </a:xfrm>
          <a:prstGeom prst="rect">
            <a:avLst/>
          </a:prstGeom>
          <a:solidFill>
            <a:srgbClr val="162B4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56631" y="1883664"/>
            <a:ext cx="2048255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推理成本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50607" y="1828800"/>
            <a:ext cx="2139696" cy="566928"/>
          </a:xfrm>
          <a:prstGeom prst="rect">
            <a:avLst/>
          </a:prstGeom>
          <a:solidFill>
            <a:srgbClr val="162B4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96327" y="1883664"/>
            <a:ext cx="2048255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是否可插拔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90304" y="1828800"/>
            <a:ext cx="2139696" cy="566928"/>
          </a:xfrm>
          <a:prstGeom prst="rect">
            <a:avLst/>
          </a:prstGeom>
          <a:solidFill>
            <a:srgbClr val="162B4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36024" y="1883664"/>
            <a:ext cx="2048255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主要问题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395728"/>
            <a:ext cx="2139696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441448"/>
            <a:ext cx="2048255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DAPT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71215" y="2395728"/>
            <a:ext cx="2139696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16935" y="2441448"/>
            <a:ext cx="2048255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10912" y="2395728"/>
            <a:ext cx="2139696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56631" y="2441448"/>
            <a:ext cx="2048255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7" y="2395728"/>
            <a:ext cx="2139696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96327" y="2441448"/>
            <a:ext cx="2048255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90304" y="2395728"/>
            <a:ext cx="2139696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36024" y="2441448"/>
            <a:ext cx="2048255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需重训原模型，易遗忘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2962656"/>
            <a:ext cx="2139696" cy="566928"/>
          </a:xfrm>
          <a:prstGeom prst="rect">
            <a:avLst/>
          </a:prstGeom>
          <a:solidFill>
            <a:srgbClr val="F2F4F7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008376"/>
            <a:ext cx="2048255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RAG / kNN-LM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71215" y="2962656"/>
            <a:ext cx="2139696" cy="566928"/>
          </a:xfrm>
          <a:prstGeom prst="rect">
            <a:avLst/>
          </a:prstGeom>
          <a:solidFill>
            <a:srgbClr val="F2F4F7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16935" y="3008376"/>
            <a:ext cx="2048255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10912" y="2962656"/>
            <a:ext cx="2139696" cy="566928"/>
          </a:xfrm>
          <a:prstGeom prst="rect">
            <a:avLst/>
          </a:prstGeom>
          <a:solidFill>
            <a:srgbClr val="F2F4F7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56631" y="3008376"/>
            <a:ext cx="2048255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50607" y="2962656"/>
            <a:ext cx="2139696" cy="566928"/>
          </a:xfrm>
          <a:prstGeom prst="rect">
            <a:avLst/>
          </a:prstGeom>
          <a:solidFill>
            <a:srgbClr val="F2F4F7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96327" y="3008376"/>
            <a:ext cx="2048255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90304" y="2962656"/>
            <a:ext cx="2139696" cy="566928"/>
          </a:xfrm>
          <a:prstGeom prst="rect">
            <a:avLst/>
          </a:prstGeom>
          <a:solidFill>
            <a:srgbClr val="F2F4F7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36024" y="3008376"/>
            <a:ext cx="2048255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在线检索慢，存储大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529584"/>
            <a:ext cx="2139696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3575303"/>
            <a:ext cx="2048255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MemDec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71215" y="3529584"/>
            <a:ext cx="2139696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16935" y="3575303"/>
            <a:ext cx="2048255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中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10912" y="3529584"/>
            <a:ext cx="2139696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56631" y="3575303"/>
            <a:ext cx="2048255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低-中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50607" y="3529584"/>
            <a:ext cx="2139696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96327" y="3575303"/>
            <a:ext cx="2048255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是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90304" y="3529584"/>
            <a:ext cx="2139696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36024" y="3575303"/>
            <a:ext cx="2048255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需预训练记忆模块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4389120"/>
            <a:ext cx="1060704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PingFang SC"/>
              </a:defRPr>
            </a:pPr>
            <a:r>
              <a:t>• 核心思想：将非参数检索器输出的知识分布压缩到一个小型 decoder 中。</a:t>
            </a:r>
          </a:p>
          <a:p>
            <a:pPr>
              <a:spcAft>
                <a:spcPts val="800"/>
              </a:spcAft>
              <a:defRPr sz="1700">
                <a:solidFill>
                  <a:srgbClr val="23272F"/>
                </a:solidFill>
                <a:latin typeface="PingFang SC"/>
              </a:defRPr>
            </a:pPr>
            <a:r>
              <a:t>• 推理时不再检索，而是由 Memory Decoder 直接给出“记忆增强”的 token 分布。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26C"/>
                </a:solidFill>
                <a:latin typeface="PingFang SC"/>
              </a:rPr>
              <a:t>论文：Memory Decoder: A Pretrained, Plug-and-Play Memory for Large Language Models (2025)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6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B4D"/>
                </a:solidFill>
                <a:latin typeface="PingFang SC"/>
              </a:rPr>
              <a:t>3. 方法总览：Memory Decoder 框架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40480"/>
            <a:ext cx="1060704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t>• 训练阶段：用领域语料构建 kNN 监督信号，学习“检索式记忆分布”。</a:t>
            </a:r>
          </a:p>
          <a:p>
            <a:r>
              <a:t>• 推理阶段：冻结基座模型，仅增加一个小型 decoder 前向计算。</a:t>
            </a:r>
          </a:p>
          <a:p>
            <a:r>
              <a:t>• 最终输出：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26C"/>
                </a:solidFill>
                <a:latin typeface="PingFang SC"/>
              </a:rPr>
              <a:t>论文：Memory Decoder: A Pretrained, Plug-and-Play Memory for Large Language Models (2025)</a:t>
            </a:r>
          </a:p>
        </p:txBody>
      </p:sp>
      <p:pic>
        <p:nvPicPr>
          <p:cNvPr id="21" name="Picture 20" descr="MemD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527" y="1500000"/>
            <a:ext cx="7358640" cy="4550000"/>
          </a:xfrm>
          <a:prstGeom prst="rect">
            <a:avLst/>
          </a:prstGeom>
        </p:spPr>
      </p:pic>
      <p:pic>
        <p:nvPicPr>
          <p:cNvPr id="24" name="Picture 23" descr="inter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787" y="6408115"/>
            <a:ext cx="6682435" cy="4026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6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B4D"/>
                </a:solidFill>
                <a:latin typeface="PingFang SC"/>
              </a:rPr>
              <a:t>4. 方法细节：训练目标与推理机制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94960" cy="4526280"/>
          </a:xfrm>
          <a:prstGeom prst="roundRect">
            <a:avLst/>
          </a:prstGeom>
          <a:solidFill>
            <a:srgbClr val="F2F4F7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57276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5BBA"/>
                </a:solidFill>
                <a:latin typeface="PingFang SC"/>
              </a:rPr>
              <a:t>训练目标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01952"/>
            <a:ext cx="4892040" cy="3794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t>• KL 散度：让 Memory Decoder 输出逼近 kNN 检索分布。</a:t>
            </a:r>
          </a:p>
          <a:p>
            <a:r>
              <a:t>• 语言建模损失：保持对真实 token 分布的拟合能力。</a:t>
            </a:r>
          </a:p>
          <a:p>
            <a:r>
              <a:t>• 总目标：</a:t>
            </a:r>
          </a:p>
          <a:p>
            <a:r>
              <a:t>• 作用：兼顾长尾知识记忆与语言流畅性。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17320"/>
            <a:ext cx="5394960" cy="4526280"/>
          </a:xfrm>
          <a:prstGeom prst="roundRect">
            <a:avLst/>
          </a:prstGeom>
          <a:solidFill>
            <a:srgbClr val="F2F4F7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7276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5BBA"/>
                </a:solidFill>
                <a:latin typeface="PingFang SC"/>
              </a:rPr>
              <a:t>推理机制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1901952"/>
            <a:ext cx="4892040" cy="3794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72F"/>
                </a:solidFill>
                <a:latin typeface="PingFang SC"/>
              </a:defRPr>
            </a:pPr>
            <a:r>
              <a:t>• 输入同时送入冻结的基座模型与 Memory Decoder。</a:t>
            </a:r>
          </a:p>
          <a:p>
            <a:pPr>
              <a:spcAft>
                <a:spcPts val="800"/>
              </a:spcAft>
              <a:defRPr sz="1500">
                <a:solidFill>
                  <a:srgbClr val="23272F"/>
                </a:solidFill>
                <a:latin typeface="PingFang SC"/>
              </a:defRPr>
            </a:pPr>
            <a:r>
              <a:t>• 两者分别输出 token 概率分布。</a:t>
            </a:r>
          </a:p>
          <a:p>
            <a:pPr>
              <a:spcAft>
                <a:spcPts val="800"/>
              </a:spcAft>
              <a:defRPr sz="1500">
                <a:solidFill>
                  <a:srgbClr val="23272F"/>
                </a:solidFill>
                <a:latin typeface="PingFang SC"/>
              </a:defRPr>
            </a:pPr>
            <a:r>
              <a:t>• 通过插值系数 α 融合，得到最终预测。</a:t>
            </a:r>
          </a:p>
          <a:p>
            <a:pPr>
              <a:spcAft>
                <a:spcPts val="800"/>
              </a:spcAft>
              <a:defRPr sz="1500">
                <a:solidFill>
                  <a:srgbClr val="23272F"/>
                </a:solidFill>
                <a:latin typeface="PingFang SC"/>
              </a:defRPr>
            </a:pPr>
            <a:r>
              <a:t>• 无需在线检索，也无需修改原模型参数。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26C"/>
                </a:solidFill>
                <a:latin typeface="PingFang SC"/>
              </a:rPr>
              <a:t>论文：Memory Decoder: A Pretrained, Plug-and-Play Memory for Large Language Models (2025)</a:t>
            </a:r>
          </a:p>
        </p:txBody>
      </p:sp>
      <p:pic>
        <p:nvPicPr>
          <p:cNvPr id="12" name="Picture 11" descr="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257" y="3723436"/>
            <a:ext cx="2348179" cy="2799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6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B4D"/>
                </a:solidFill>
                <a:latin typeface="PingFang SC"/>
              </a:rPr>
              <a:t>5. 方法特点：与 DAPT / RAG / LoRA 的区别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E5BBA"/>
                </a:solidFill>
                <a:latin typeface="PingFang SC"/>
              </a:rPr>
              <a:t>方法定位比较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83080"/>
            <a:ext cx="2139696" cy="512064"/>
          </a:xfrm>
          <a:prstGeom prst="rect">
            <a:avLst/>
          </a:prstGeom>
          <a:solidFill>
            <a:srgbClr val="162B4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37943"/>
            <a:ext cx="20482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维度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2871215" y="1783080"/>
            <a:ext cx="2139696" cy="512064"/>
          </a:xfrm>
          <a:prstGeom prst="rect">
            <a:avLst/>
          </a:prstGeom>
          <a:solidFill>
            <a:srgbClr val="162B4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16935" y="1837943"/>
            <a:ext cx="20482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DAPT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10912" y="1783080"/>
            <a:ext cx="2139696" cy="512064"/>
          </a:xfrm>
          <a:prstGeom prst="rect">
            <a:avLst/>
          </a:prstGeom>
          <a:solidFill>
            <a:srgbClr val="162B4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56631" y="1837943"/>
            <a:ext cx="20482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RAG / kNN-LM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50607" y="1783080"/>
            <a:ext cx="2139696" cy="512064"/>
          </a:xfrm>
          <a:prstGeom prst="rect">
            <a:avLst/>
          </a:prstGeom>
          <a:solidFill>
            <a:srgbClr val="162B4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96327" y="1837943"/>
            <a:ext cx="20482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LoRA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90304" y="1783080"/>
            <a:ext cx="2139696" cy="512064"/>
          </a:xfrm>
          <a:prstGeom prst="rect">
            <a:avLst/>
          </a:prstGeom>
          <a:solidFill>
            <a:srgbClr val="162B4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36024" y="1837943"/>
            <a:ext cx="20482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MemDec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295144"/>
            <a:ext cx="2139696" cy="512064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340863"/>
            <a:ext cx="20482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是否改原模型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71215" y="2295144"/>
            <a:ext cx="2139696" cy="512064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16935" y="2340863"/>
            <a:ext cx="20482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10912" y="2295144"/>
            <a:ext cx="2139696" cy="512064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56631" y="2340863"/>
            <a:ext cx="20482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7" y="2295144"/>
            <a:ext cx="2139696" cy="512064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96327" y="2340863"/>
            <a:ext cx="20482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是（少量）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90304" y="2295144"/>
            <a:ext cx="2139696" cy="512064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36024" y="2340863"/>
            <a:ext cx="20482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2807208"/>
            <a:ext cx="2139696" cy="512064"/>
          </a:xfrm>
          <a:prstGeom prst="rect">
            <a:avLst/>
          </a:prstGeom>
          <a:solidFill>
            <a:srgbClr val="F2F4F7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2852928"/>
            <a:ext cx="20482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是否在线检索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71215" y="2807208"/>
            <a:ext cx="2139696" cy="512064"/>
          </a:xfrm>
          <a:prstGeom prst="rect">
            <a:avLst/>
          </a:prstGeom>
          <a:solidFill>
            <a:srgbClr val="F2F4F7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16935" y="2852928"/>
            <a:ext cx="20482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10912" y="2807208"/>
            <a:ext cx="2139696" cy="512064"/>
          </a:xfrm>
          <a:prstGeom prst="rect">
            <a:avLst/>
          </a:prstGeom>
          <a:solidFill>
            <a:srgbClr val="F2F4F7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56631" y="2852928"/>
            <a:ext cx="20482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50607" y="2807208"/>
            <a:ext cx="2139696" cy="512064"/>
          </a:xfrm>
          <a:prstGeom prst="rect">
            <a:avLst/>
          </a:prstGeom>
          <a:solidFill>
            <a:srgbClr val="F2F4F7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96327" y="2852928"/>
            <a:ext cx="20482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90304" y="2807208"/>
            <a:ext cx="2139696" cy="512064"/>
          </a:xfrm>
          <a:prstGeom prst="rect">
            <a:avLst/>
          </a:prstGeom>
          <a:solidFill>
            <a:srgbClr val="F2F4F7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36024" y="2852928"/>
            <a:ext cx="20482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319272"/>
            <a:ext cx="2139696" cy="512064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3364991"/>
            <a:ext cx="20482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跨模型复用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71215" y="3319272"/>
            <a:ext cx="2139696" cy="512064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16935" y="3364991"/>
            <a:ext cx="20482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10912" y="3319272"/>
            <a:ext cx="2139696" cy="512064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56631" y="3364991"/>
            <a:ext cx="20482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中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50607" y="3319272"/>
            <a:ext cx="2139696" cy="512064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96327" y="3364991"/>
            <a:ext cx="20482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90304" y="3319272"/>
            <a:ext cx="2139696" cy="512064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36024" y="3364991"/>
            <a:ext cx="20482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3831336"/>
            <a:ext cx="2139696" cy="512064"/>
          </a:xfrm>
          <a:prstGeom prst="rect">
            <a:avLst/>
          </a:prstGeom>
          <a:solidFill>
            <a:srgbClr val="F2F4F7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3877056"/>
            <a:ext cx="20482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推理延迟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71215" y="3831336"/>
            <a:ext cx="2139696" cy="512064"/>
          </a:xfrm>
          <a:prstGeom prst="rect">
            <a:avLst/>
          </a:prstGeom>
          <a:solidFill>
            <a:srgbClr val="F2F4F7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16935" y="3877056"/>
            <a:ext cx="20482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低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10912" y="3831336"/>
            <a:ext cx="2139696" cy="512064"/>
          </a:xfrm>
          <a:prstGeom prst="rect">
            <a:avLst/>
          </a:prstGeom>
          <a:solidFill>
            <a:srgbClr val="F2F4F7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56631" y="3877056"/>
            <a:ext cx="20482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50607" y="3831336"/>
            <a:ext cx="2139696" cy="512064"/>
          </a:xfrm>
          <a:prstGeom prst="rect">
            <a:avLst/>
          </a:prstGeom>
          <a:solidFill>
            <a:srgbClr val="F2F4F7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96327" y="3877056"/>
            <a:ext cx="20482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低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90304" y="3831336"/>
            <a:ext cx="2139696" cy="512064"/>
          </a:xfrm>
          <a:prstGeom prst="rect">
            <a:avLst/>
          </a:prstGeom>
          <a:solidFill>
            <a:srgbClr val="F2F4F7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36024" y="3877056"/>
            <a:ext cx="20482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低-中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" y="4343400"/>
            <a:ext cx="2139696" cy="512064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" y="4389120"/>
            <a:ext cx="20482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核心优势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71215" y="4343400"/>
            <a:ext cx="2139696" cy="512064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16935" y="4389120"/>
            <a:ext cx="20482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适配充分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10912" y="4343400"/>
            <a:ext cx="2139696" cy="512064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56631" y="4389120"/>
            <a:ext cx="20482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知识新鲜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50607" y="4343400"/>
            <a:ext cx="2139696" cy="512064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96327" y="4389120"/>
            <a:ext cx="20482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参数高效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90304" y="4343400"/>
            <a:ext cx="2139696" cy="512064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36024" y="4389120"/>
            <a:ext cx="20482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23272F"/>
                </a:solidFill>
                <a:latin typeface="PingFang SC"/>
              </a:rPr>
              <a:t>可插拔+低延迟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4892040"/>
            <a:ext cx="1060704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72F"/>
                </a:solidFill>
                <a:latin typeface="PingFang SC"/>
              </a:defRPr>
            </a:pPr>
            <a:r>
              <a:t>• MemDec 可视为“参数化检索器”：把外部记忆压缩进小模型。</a:t>
            </a:r>
          </a:p>
          <a:p>
            <a:pPr>
              <a:spcAft>
                <a:spcPts val="800"/>
              </a:spcAft>
              <a:defRPr sz="1600">
                <a:solidFill>
                  <a:srgbClr val="23272F"/>
                </a:solidFill>
                <a:latin typeface="PingFang SC"/>
              </a:defRPr>
            </a:pPr>
            <a:r>
              <a:t>• 相比 LoRA，更强调跨基座模型共享与独立部署。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26C"/>
                </a:solidFill>
                <a:latin typeface="PingFang SC"/>
              </a:rPr>
              <a:t>论文：Memory Decoder: A Pretrained, Plug-and-Play Memory for Large Language Models (2025)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6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2B4D"/>
                </a:solidFill>
                <a:latin typeface="PingFang SC"/>
              </a:rPr>
              <a:t>6. 实验设置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94960" cy="4526280"/>
          </a:xfrm>
          <a:prstGeom prst="roundRect">
            <a:avLst/>
          </a:prstGeom>
          <a:solidFill>
            <a:srgbClr val="F2F4F7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57276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5BBA"/>
                </a:solidFill>
                <a:latin typeface="PingFang SC"/>
              </a:rPr>
              <a:t>实验对象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01952"/>
            <a:ext cx="4892040" cy="3794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72F"/>
                </a:solidFill>
                <a:latin typeface="PingFang SC"/>
              </a:defRPr>
            </a:pPr>
            <a:r>
              <a:t>• 领域语料：生物医学（MIMIC-III）、金融、法律（Asylex）。</a:t>
            </a:r>
          </a:p>
          <a:p>
            <a:pPr>
              <a:spcAft>
                <a:spcPts val="800"/>
              </a:spcAft>
              <a:defRPr sz="1500">
                <a:solidFill>
                  <a:srgbClr val="23272F"/>
                </a:solidFill>
                <a:latin typeface="PingFang SC"/>
              </a:defRPr>
            </a:pPr>
            <a:r>
              <a:t>• 语言建模：WikiText-103。</a:t>
            </a:r>
          </a:p>
          <a:p>
            <a:pPr>
              <a:spcAft>
                <a:spcPts val="800"/>
              </a:spcAft>
              <a:defRPr sz="1500">
                <a:solidFill>
                  <a:srgbClr val="23272F"/>
                </a:solidFill>
                <a:latin typeface="PingFang SC"/>
              </a:defRPr>
            </a:pPr>
            <a:r>
              <a:t>• 知识密集型问答：Natural Questions、HotpotQA。</a:t>
            </a:r>
          </a:p>
          <a:p>
            <a:pPr>
              <a:spcAft>
                <a:spcPts val="800"/>
              </a:spcAft>
              <a:defRPr sz="1500">
                <a:solidFill>
                  <a:srgbClr val="23272F"/>
                </a:solidFill>
                <a:latin typeface="PingFang SC"/>
              </a:defRPr>
            </a:pPr>
            <a:r>
              <a:t>• 通用任务：9 个 NLP 分类/推理任务。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17320"/>
            <a:ext cx="5394960" cy="4526280"/>
          </a:xfrm>
          <a:prstGeom prst="roundRect">
            <a:avLst/>
          </a:prstGeom>
          <a:solidFill>
            <a:srgbClr val="F2F4F7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72768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E5BBA"/>
                </a:solidFill>
                <a:latin typeface="PingFang SC"/>
              </a:rPr>
              <a:t>模型与指标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1901952"/>
            <a:ext cx="4892040" cy="3794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72F"/>
                </a:solidFill>
                <a:latin typeface="PingFang SC"/>
              </a:defRPr>
            </a:pPr>
            <a:r>
              <a:t>• 基座模型：GPT-2、Qwen2/2.5、Llama3 系列。</a:t>
            </a:r>
          </a:p>
          <a:p>
            <a:pPr>
              <a:spcAft>
                <a:spcPts val="800"/>
              </a:spcAft>
              <a:defRPr sz="1500">
                <a:solidFill>
                  <a:srgbClr val="23272F"/>
                </a:solidFill>
                <a:latin typeface="PingFang SC"/>
              </a:defRPr>
            </a:pPr>
            <a:r>
              <a:t>• 对比方法：Base、RAG、kNN-LM、DAPT、LoRA、MemDec。</a:t>
            </a:r>
          </a:p>
          <a:p>
            <a:pPr>
              <a:spcAft>
                <a:spcPts val="800"/>
              </a:spcAft>
              <a:defRPr sz="1500">
                <a:solidFill>
                  <a:srgbClr val="23272F"/>
                </a:solidFill>
                <a:latin typeface="PingFang SC"/>
              </a:defRPr>
            </a:pPr>
            <a:r>
              <a:t>• 评价指标：PPL、准确率/平均分、问答性能、推理延迟。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26C"/>
                </a:solidFill>
                <a:latin typeface="PingFang SC"/>
              </a:rPr>
              <a:t>论文：Memory Decoder: A Pretrained, Plug-and-Play Memory for Large Language Models (2025)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02920" y="20116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PingFang SC"/>
              </a:rPr>
              <a:t>7.1 Results: Language Modeling on Wikitext-103</a:t>
            </a:r>
          </a:p>
        </p:txBody>
      </p:sp>
      <p:pic>
        <p:nvPicPr>
          <p:cNvPr id="8" name="Picture 7" descr="tabl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10058400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840480"/>
            <a:ext cx="10058400" cy="1600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000000"/>
                </a:solidFill>
                <a:latin typeface="PingFang SC"/>
              </a:rPr>
              <a:t>表1显示，124M 参数的单个 Memory Decoder 就能稳定提升整个 GPT2 系列，体现出很强的即插即用能力。对小模型，它整体优于各类适配方法；对大模型，在不改动原模型参数的前提下，也持续超过其他参数高效方法并接近 DAPT。说明小型参数化解码器已能吸收非参数检索的收益，同时避免额外计算开销。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513832"/>
            <a:ext cx="987552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Arial"/>
              </a:rPr>
              <a:t>Paper: Memory Decoder: A Pretrained, Plug-and-Play Memory for Large Language Models (NeurIPS 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02920" y="20116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PingFang SC"/>
              </a:rPr>
              <a:t>7.2 Results: Downstream Performance</a:t>
            </a:r>
          </a:p>
        </p:txBody>
      </p:sp>
      <p:pic>
        <p:nvPicPr>
          <p:cNvPr id="8" name="Picture 7" descr="tabl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10332720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3822191"/>
            <a:ext cx="10058400" cy="16276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000000"/>
                </a:solidFill>
                <a:latin typeface="PingFang SC"/>
              </a:rPr>
              <a:t>表2表明，Memory Decoder 在提升领域适应能力的同时，能较好保留通用语言能力。相比 DAPT 在多项任务上出现明显灾难性遗忘，Memory Decoder 在全部九项零样本任务上均保持或提升表现，平均成绩最高，并在 CB、RTE 等文本蕴含任务上优势更明显。说明其通过“保留原参数 + 注入领域知识”实现了更稳健的领域适配。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513832"/>
            <a:ext cx="987552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Arial"/>
              </a:rPr>
              <a:t>Paper: Memory Decoder: A Pretrained, Plug-and-Play Memory for Large Language Models (NeurIPS 2025)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02920" y="20116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PingFang SC"/>
              </a:rPr>
              <a:t>7.3 Results: Cross-Model Adaptation</a:t>
            </a:r>
          </a:p>
        </p:txBody>
      </p:sp>
      <p:pic>
        <p:nvPicPr>
          <p:cNvPr id="8" name="Picture 7" descr="tabl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325880"/>
            <a:ext cx="3749039" cy="3611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54880" y="1353312"/>
            <a:ext cx="5577840" cy="35661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000000"/>
                </a:solidFill>
                <a:latin typeface="PingFang SC"/>
              </a:rPr>
              <a:t>表3显示，单个 0.5B 的 Memory Decoder 可稳定增强 Qwen2 / Qwen2.5 系列从 0.5B 到 72B 的多种模型。对小模型，它在生物医学和金融文本上带来显著困惑度下降；对大模型也仍有稳定收益。说明共享 tokenizer 的多模型可由同一预训练记忆模块高效适配。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513832"/>
            <a:ext cx="987552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Arial"/>
              </a:rPr>
              <a:t>Paper: Memory Decoder: A Pretrained, Plug-and-Play Memory for Large Language Models (NeurIPS 2025)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02920" y="20116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PingFang SC"/>
              </a:rPr>
              <a:t>7.4 Results: Cross-Vocabulary Adaptation</a:t>
            </a:r>
          </a:p>
        </p:txBody>
      </p:sp>
      <p:pic>
        <p:nvPicPr>
          <p:cNvPr id="8" name="Picture 7" descr="tabl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325880"/>
            <a:ext cx="4480560" cy="3611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40680" y="1353312"/>
            <a:ext cx="4937760" cy="35661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000000"/>
                </a:solidFill>
                <a:latin typeface="PingFang SC"/>
              </a:rPr>
              <a:t>表4表明，Memory Decoder 可跨 tokenizer 和模型架构迁移。仅重置 embedding 层和 LM head，并使用原始训练预算的 10%，就能把在 Qwen2.5 上训练的模块迁移到 Llama 家族，并在各版本上获得明显提升；其中 Llama3-8B 在生物医学和金融领域的困惑度约下降 50%。这说明其领域知识可低成本迁移到不同模型生态。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513832"/>
            <a:ext cx="987552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Arial"/>
              </a:rPr>
              <a:t>Paper: Memory Decoder: A Pretrained, Plug-and-Play Memory for Large Language Models (NeurIPS 2025)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02920" y="20116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PingFang SC"/>
              </a:rPr>
              <a:t>8.1 Analysis: Bridging Parametric and Non-Parametric Methods</a:t>
            </a:r>
          </a:p>
        </p:txBody>
      </p:sp>
      <p:pic>
        <p:nvPicPr>
          <p:cNvPr id="8" name="Picture 7" descr="tabl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325880"/>
            <a:ext cx="4892040" cy="3611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06440" y="1353312"/>
            <a:ext cx="4572000" cy="35661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000000"/>
                </a:solidFill>
                <a:latin typeface="PingFang SC"/>
              </a:rPr>
              <a:t>表5说明，Memory Decoder 同时具备两种关键能力：一是像非参数方法一样强化长尾事实记忆，对 “Jacobi”“1906” 等事实词赋予远高于基座模型的概率；二是保持语义连贯，对 “on”“C” 等功能词或逻辑续写的概率更接近基座模型，而非像 kNN-LM 那样明显偏低。说明它在增强记忆的同时，保留了参数模型的泛化与推理能力。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513832"/>
            <a:ext cx="987552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Arial"/>
              </a:rPr>
              <a:t>Paper: Memory Decoder: A Pretrained, Plug-and-Play Memory for Large Language Models (NeurIPS 2025)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02920" y="20116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PingFang SC"/>
              </a:rPr>
              <a:t>8.2 Analysis: Impact of Memory Decoder Size</a:t>
            </a:r>
          </a:p>
        </p:txBody>
      </p:sp>
      <p:pic>
        <p:nvPicPr>
          <p:cNvPr id="8" name="Picture 7" descr="tabl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10332720" cy="22677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3749039"/>
            <a:ext cx="10058400" cy="1691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/>
                </a:solidFill>
                <a:latin typeface="PingFang SC"/>
              </a:rPr>
              <a:t>表6考察了 Memory Decoder 尺寸的影响。随着解码器规模增大，GPT2 全系列表现持续提升，其中 large 版本取得最佳平均困惑度。说明该方法在保留原模型能力的同时，还允许用户按算力预算灵活选择解码器规模。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513832"/>
            <a:ext cx="987552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Arial"/>
              </a:rPr>
              <a:t>Paper: Memory Decoder: A Pretrained, Plug-and-Play Memory for Large Language Models (NeurIPS 2025)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02920" y="201168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PingFang SC"/>
              </a:rPr>
              <a:t>8.3 Analysis: Ablation on the Pre-training Objective</a:t>
            </a:r>
          </a:p>
        </p:txBody>
      </p:sp>
      <p:pic>
        <p:nvPicPr>
          <p:cNvPr id="8" name="Picture 7" descr="tabl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10332720" cy="2148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3675887"/>
            <a:ext cx="10058400" cy="175564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000000"/>
                </a:solidFill>
                <a:latin typeface="PingFang SC"/>
              </a:rPr>
              <a:t>表7显示，与 DAPT 模型的 logit interpolation 相比，Memory Decoder 在所有 GPT2 规模上都更优，平均再降低 1.90 个 perplexity 点。且这种优势在大模型上仍然存在，说明其混合预训练目标带来的收益并非标准语言建模目标可以替代。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513832"/>
            <a:ext cx="987552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850" b="0">
                <a:solidFill>
                  <a:srgbClr val="6E6E6E"/>
                </a:solidFill>
                <a:latin typeface="Arial"/>
              </a:rPr>
              <a:t>Paper: Memory Decoder: A Pretrained, Plug-and-Play Memory for Large Language Models (NeurIPS 2025)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t>9. 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572768"/>
            <a:ext cx="10469880" cy="3886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t>• 本文提出 Memory Decoder，一种面向大语言模型领域适配的可插拔新方案。</a:t>
            </a:r>
          </a:p>
          <a:p>
            <a:r>
              <a:t>• 它通过预训练一个小型 Transformer decoder 来模拟非参数检索器的行为，无需修改基座模型参数即可完成领域增强。</a:t>
            </a:r>
          </a:p>
          <a:p>
            <a:r>
              <a:t>• 在多个模型家族和专业领域上的实验表明，Memory Decoder 持续优于参数化微调方法和传统检索增强方法。</a:t>
            </a:r>
          </a:p>
          <a:p>
            <a:r>
              <a:t>• 对于共享同一 tokenizer 的模型，一个预训练好的 Memory Decoder 可直接复用；面对不同 tokenizer 或架构，也只需少量额外训练即可迁移。</a:t>
            </a:r>
          </a:p>
          <a:p>
            <a:r>
              <a:t>• 该方法把领域知识与模型架构解耦，形成了更模块化、更高效、也更易落地的专业能力增强框架。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109728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t>论文：Memory Decoder: A Pretrained, Plug-and-Play Memory for Large Language Models（NeurIPS 2025）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t>10. 局限性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572768"/>
            <a:ext cx="10469880" cy="3886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r>
              <a:t>• 虽然 Memory Decoder 在领域适配上表现突出，但当前方案仍存在一些局限。</a:t>
            </a:r>
          </a:p>
          <a:p>
            <a:r>
              <a:t>• 预训练阶段需要在 key-value datastore 中检索，以获得 kNN 分布作为训练信号，因此会带来额外计算开销。</a:t>
            </a:r>
          </a:p>
          <a:p>
            <a:r>
              <a:t>• 尽管这一成本对每个领域只需承担一次，并可在后续多个适配模型上摊薄，但它仍是整条流程中的主要瓶颈。</a:t>
            </a:r>
          </a:p>
          <a:p>
            <a:r>
              <a:t>• 此外，跨 tokenizer 迁移虽比从头训练所需成本更低，但仍需少量参数更新来对齐嵌入空间，因此还无法实现真正零样本的跨架构迁移。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82512"/>
            <a:ext cx="109728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r>
              <a:t>论文：Memory Decoder: A Pretrained, Plug-and-Play Memory for Large Language Models（NeurIPS 2025）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